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92" r:id="rId9"/>
    <p:sldId id="290" r:id="rId10"/>
    <p:sldId id="278" r:id="rId11"/>
    <p:sldId id="276" r:id="rId12"/>
    <p:sldId id="277" r:id="rId13"/>
    <p:sldId id="280" r:id="rId14"/>
    <p:sldId id="279" r:id="rId15"/>
    <p:sldId id="281" r:id="rId16"/>
    <p:sldId id="267" r:id="rId17"/>
    <p:sldId id="270" r:id="rId18"/>
    <p:sldId id="271" r:id="rId19"/>
    <p:sldId id="272" r:id="rId20"/>
    <p:sldId id="273" r:id="rId21"/>
    <p:sldId id="274" r:id="rId22"/>
    <p:sldId id="275" r:id="rId23"/>
    <p:sldId id="288" r:id="rId24"/>
    <p:sldId id="282" r:id="rId25"/>
    <p:sldId id="284" r:id="rId26"/>
    <p:sldId id="285" r:id="rId27"/>
    <p:sldId id="286" r:id="rId28"/>
    <p:sldId id="287" r:id="rId29"/>
    <p:sldId id="283" r:id="rId30"/>
    <p:sldId id="289" r:id="rId31"/>
    <p:sldId id="291" r:id="rId32"/>
    <p:sldId id="26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4" d="100"/>
          <a:sy n="74" d="100"/>
        </p:scale>
        <p:origin x="103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984DE-50E5-7728-3BB1-6D796F5DB7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E24063-E1DD-476D-0DBC-4EDCA5A84D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F5047D5-C65D-C6AB-09AB-17178BC1DA21}"/>
              </a:ext>
            </a:extLst>
          </p:cNvPr>
          <p:cNvSpPr>
            <a:spLocks noGrp="1"/>
          </p:cNvSpPr>
          <p:nvPr>
            <p:ph type="dt" sz="half" idx="10"/>
          </p:nvPr>
        </p:nvSpPr>
        <p:spPr/>
        <p:txBody>
          <a:bodyPr/>
          <a:lstStyle/>
          <a:p>
            <a:fld id="{D447AB16-2E81-4C43-ACAE-9844DCCC1B23}" type="datetimeFigureOut">
              <a:rPr lang="en-US" smtClean="0"/>
              <a:t>6/3/2026</a:t>
            </a:fld>
            <a:endParaRPr lang="en-US"/>
          </a:p>
        </p:txBody>
      </p:sp>
      <p:sp>
        <p:nvSpPr>
          <p:cNvPr id="5" name="Footer Placeholder 4">
            <a:extLst>
              <a:ext uri="{FF2B5EF4-FFF2-40B4-BE49-F238E27FC236}">
                <a16:creationId xmlns:a16="http://schemas.microsoft.com/office/drawing/2014/main" id="{B51AD3C0-6179-608A-4C2C-2EB7B1B9D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C9F623-9421-C1AA-06E0-C5D1A9A2331C}"/>
              </a:ext>
            </a:extLst>
          </p:cNvPr>
          <p:cNvSpPr>
            <a:spLocks noGrp="1"/>
          </p:cNvSpPr>
          <p:nvPr>
            <p:ph type="sldNum" sz="quarter" idx="12"/>
          </p:nvPr>
        </p:nvSpPr>
        <p:spPr/>
        <p:txBody>
          <a:bodyPr/>
          <a:lstStyle/>
          <a:p>
            <a:fld id="{2477B935-5CE2-4A32-B631-2C8711CCABA8}" type="slidenum">
              <a:rPr lang="en-US" smtClean="0"/>
              <a:t>‹#›</a:t>
            </a:fld>
            <a:endParaRPr lang="en-US"/>
          </a:p>
        </p:txBody>
      </p:sp>
    </p:spTree>
    <p:extLst>
      <p:ext uri="{BB962C8B-B14F-4D97-AF65-F5344CB8AC3E}">
        <p14:creationId xmlns:p14="http://schemas.microsoft.com/office/powerpoint/2010/main" val="484445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23F31-7DED-BEB1-236D-3297590EC4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563B36-8156-80AC-8038-F432A278B4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FD1AA1-5594-7EEB-E517-69ABEBC6ECE3}"/>
              </a:ext>
            </a:extLst>
          </p:cNvPr>
          <p:cNvSpPr>
            <a:spLocks noGrp="1"/>
          </p:cNvSpPr>
          <p:nvPr>
            <p:ph type="dt" sz="half" idx="10"/>
          </p:nvPr>
        </p:nvSpPr>
        <p:spPr/>
        <p:txBody>
          <a:bodyPr/>
          <a:lstStyle/>
          <a:p>
            <a:fld id="{D447AB16-2E81-4C43-ACAE-9844DCCC1B23}" type="datetimeFigureOut">
              <a:rPr lang="en-US" smtClean="0"/>
              <a:t>6/3/2026</a:t>
            </a:fld>
            <a:endParaRPr lang="en-US"/>
          </a:p>
        </p:txBody>
      </p:sp>
      <p:sp>
        <p:nvSpPr>
          <p:cNvPr id="5" name="Footer Placeholder 4">
            <a:extLst>
              <a:ext uri="{FF2B5EF4-FFF2-40B4-BE49-F238E27FC236}">
                <a16:creationId xmlns:a16="http://schemas.microsoft.com/office/drawing/2014/main" id="{02F55E0F-F2F6-F7B8-8DAB-3467D35C81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83D453-CC02-D610-03BB-130711888ECE}"/>
              </a:ext>
            </a:extLst>
          </p:cNvPr>
          <p:cNvSpPr>
            <a:spLocks noGrp="1"/>
          </p:cNvSpPr>
          <p:nvPr>
            <p:ph type="sldNum" sz="quarter" idx="12"/>
          </p:nvPr>
        </p:nvSpPr>
        <p:spPr/>
        <p:txBody>
          <a:bodyPr/>
          <a:lstStyle/>
          <a:p>
            <a:fld id="{2477B935-5CE2-4A32-B631-2C8711CCABA8}" type="slidenum">
              <a:rPr lang="en-US" smtClean="0"/>
              <a:t>‹#›</a:t>
            </a:fld>
            <a:endParaRPr lang="en-US"/>
          </a:p>
        </p:txBody>
      </p:sp>
    </p:spTree>
    <p:extLst>
      <p:ext uri="{BB962C8B-B14F-4D97-AF65-F5344CB8AC3E}">
        <p14:creationId xmlns:p14="http://schemas.microsoft.com/office/powerpoint/2010/main" val="2841585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0F5FA-2DA4-6466-5E02-BD5DA007B6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492D14-4921-D468-0816-BB0E6BB176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35BF17-6B06-9CF6-E52F-B5EBAAAD15BE}"/>
              </a:ext>
            </a:extLst>
          </p:cNvPr>
          <p:cNvSpPr>
            <a:spLocks noGrp="1"/>
          </p:cNvSpPr>
          <p:nvPr>
            <p:ph type="dt" sz="half" idx="10"/>
          </p:nvPr>
        </p:nvSpPr>
        <p:spPr/>
        <p:txBody>
          <a:bodyPr/>
          <a:lstStyle/>
          <a:p>
            <a:fld id="{D447AB16-2E81-4C43-ACAE-9844DCCC1B23}" type="datetimeFigureOut">
              <a:rPr lang="en-US" smtClean="0"/>
              <a:t>6/3/2026</a:t>
            </a:fld>
            <a:endParaRPr lang="en-US"/>
          </a:p>
        </p:txBody>
      </p:sp>
      <p:sp>
        <p:nvSpPr>
          <p:cNvPr id="5" name="Footer Placeholder 4">
            <a:extLst>
              <a:ext uri="{FF2B5EF4-FFF2-40B4-BE49-F238E27FC236}">
                <a16:creationId xmlns:a16="http://schemas.microsoft.com/office/drawing/2014/main" id="{10712D56-2C4E-E0C2-9681-80F4AC2A4F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E73203-3088-10A2-E0E8-093163F61B05}"/>
              </a:ext>
            </a:extLst>
          </p:cNvPr>
          <p:cNvSpPr>
            <a:spLocks noGrp="1"/>
          </p:cNvSpPr>
          <p:nvPr>
            <p:ph type="sldNum" sz="quarter" idx="12"/>
          </p:nvPr>
        </p:nvSpPr>
        <p:spPr/>
        <p:txBody>
          <a:bodyPr/>
          <a:lstStyle/>
          <a:p>
            <a:fld id="{2477B935-5CE2-4A32-B631-2C8711CCABA8}" type="slidenum">
              <a:rPr lang="en-US" smtClean="0"/>
              <a:t>‹#›</a:t>
            </a:fld>
            <a:endParaRPr lang="en-US"/>
          </a:p>
        </p:txBody>
      </p:sp>
    </p:spTree>
    <p:extLst>
      <p:ext uri="{BB962C8B-B14F-4D97-AF65-F5344CB8AC3E}">
        <p14:creationId xmlns:p14="http://schemas.microsoft.com/office/powerpoint/2010/main" val="2327382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E72AE-5177-8BEE-B737-10FA11D44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119266-3DCF-D53B-0471-4797BB6C4C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468613-4956-3633-0434-748C45DD6C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0F6C52-280D-0476-DE84-7A0744DB0CCC}"/>
              </a:ext>
            </a:extLst>
          </p:cNvPr>
          <p:cNvSpPr>
            <a:spLocks noGrp="1"/>
          </p:cNvSpPr>
          <p:nvPr>
            <p:ph type="dt" sz="half" idx="10"/>
          </p:nvPr>
        </p:nvSpPr>
        <p:spPr/>
        <p:txBody>
          <a:bodyPr/>
          <a:lstStyle/>
          <a:p>
            <a:fld id="{D447AB16-2E81-4C43-ACAE-9844DCCC1B23}" type="datetimeFigureOut">
              <a:rPr lang="en-US" smtClean="0"/>
              <a:t>6/3/2026</a:t>
            </a:fld>
            <a:endParaRPr lang="en-US"/>
          </a:p>
        </p:txBody>
      </p:sp>
      <p:sp>
        <p:nvSpPr>
          <p:cNvPr id="6" name="Footer Placeholder 5">
            <a:extLst>
              <a:ext uri="{FF2B5EF4-FFF2-40B4-BE49-F238E27FC236}">
                <a16:creationId xmlns:a16="http://schemas.microsoft.com/office/drawing/2014/main" id="{19737686-11CB-7F16-67FA-E82337588E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9873F9-2EC6-B006-C222-7D5C60CC5765}"/>
              </a:ext>
            </a:extLst>
          </p:cNvPr>
          <p:cNvSpPr>
            <a:spLocks noGrp="1"/>
          </p:cNvSpPr>
          <p:nvPr>
            <p:ph type="sldNum" sz="quarter" idx="12"/>
          </p:nvPr>
        </p:nvSpPr>
        <p:spPr/>
        <p:txBody>
          <a:bodyPr/>
          <a:lstStyle/>
          <a:p>
            <a:fld id="{2477B935-5CE2-4A32-B631-2C8711CCABA8}" type="slidenum">
              <a:rPr lang="en-US" smtClean="0"/>
              <a:t>‹#›</a:t>
            </a:fld>
            <a:endParaRPr lang="en-US"/>
          </a:p>
        </p:txBody>
      </p:sp>
    </p:spTree>
    <p:extLst>
      <p:ext uri="{BB962C8B-B14F-4D97-AF65-F5344CB8AC3E}">
        <p14:creationId xmlns:p14="http://schemas.microsoft.com/office/powerpoint/2010/main" val="2489519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6804F-8C21-E855-DBB4-767FCBAFF9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5F19F-8F0B-3FA9-2AD9-736C1E5468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A85C0-313E-2BC3-25F1-02F07D12A6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6E4A64-7AF9-883E-6383-4B124D17E2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9AE610-05D1-2ED2-51B5-357A6CD47F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3EEFCD-3E5F-F0AB-79D9-D47F3DF1E4A9}"/>
              </a:ext>
            </a:extLst>
          </p:cNvPr>
          <p:cNvSpPr>
            <a:spLocks noGrp="1"/>
          </p:cNvSpPr>
          <p:nvPr>
            <p:ph type="dt" sz="half" idx="10"/>
          </p:nvPr>
        </p:nvSpPr>
        <p:spPr/>
        <p:txBody>
          <a:bodyPr/>
          <a:lstStyle/>
          <a:p>
            <a:fld id="{D447AB16-2E81-4C43-ACAE-9844DCCC1B23}" type="datetimeFigureOut">
              <a:rPr lang="en-US" smtClean="0"/>
              <a:t>6/3/2026</a:t>
            </a:fld>
            <a:endParaRPr lang="en-US"/>
          </a:p>
        </p:txBody>
      </p:sp>
      <p:sp>
        <p:nvSpPr>
          <p:cNvPr id="8" name="Footer Placeholder 7">
            <a:extLst>
              <a:ext uri="{FF2B5EF4-FFF2-40B4-BE49-F238E27FC236}">
                <a16:creationId xmlns:a16="http://schemas.microsoft.com/office/drawing/2014/main" id="{3956B75F-14DE-FA1F-7F46-347B672360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401903-9CBB-DD54-3D5F-A706D6563244}"/>
              </a:ext>
            </a:extLst>
          </p:cNvPr>
          <p:cNvSpPr>
            <a:spLocks noGrp="1"/>
          </p:cNvSpPr>
          <p:nvPr>
            <p:ph type="sldNum" sz="quarter" idx="12"/>
          </p:nvPr>
        </p:nvSpPr>
        <p:spPr/>
        <p:txBody>
          <a:bodyPr/>
          <a:lstStyle/>
          <a:p>
            <a:fld id="{2477B935-5CE2-4A32-B631-2C8711CCABA8}" type="slidenum">
              <a:rPr lang="en-US" smtClean="0"/>
              <a:t>‹#›</a:t>
            </a:fld>
            <a:endParaRPr lang="en-US"/>
          </a:p>
        </p:txBody>
      </p:sp>
    </p:spTree>
    <p:extLst>
      <p:ext uri="{BB962C8B-B14F-4D97-AF65-F5344CB8AC3E}">
        <p14:creationId xmlns:p14="http://schemas.microsoft.com/office/powerpoint/2010/main" val="3433299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00F97-EB3E-1C90-4AC1-8FCDE8F57D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DB2AAD-00A3-3C0D-12A8-90CB6CB607EC}"/>
              </a:ext>
            </a:extLst>
          </p:cNvPr>
          <p:cNvSpPr>
            <a:spLocks noGrp="1"/>
          </p:cNvSpPr>
          <p:nvPr>
            <p:ph type="dt" sz="half" idx="10"/>
          </p:nvPr>
        </p:nvSpPr>
        <p:spPr/>
        <p:txBody>
          <a:bodyPr/>
          <a:lstStyle/>
          <a:p>
            <a:fld id="{D447AB16-2E81-4C43-ACAE-9844DCCC1B23}" type="datetimeFigureOut">
              <a:rPr lang="en-US" smtClean="0"/>
              <a:t>6/3/2026</a:t>
            </a:fld>
            <a:endParaRPr lang="en-US"/>
          </a:p>
        </p:txBody>
      </p:sp>
      <p:sp>
        <p:nvSpPr>
          <p:cNvPr id="4" name="Footer Placeholder 3">
            <a:extLst>
              <a:ext uri="{FF2B5EF4-FFF2-40B4-BE49-F238E27FC236}">
                <a16:creationId xmlns:a16="http://schemas.microsoft.com/office/drawing/2014/main" id="{362BDD4E-2F06-ACF9-518E-2B16DD2B8D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8E2245-17B3-E1EE-2A8F-0EA0AB2447CA}"/>
              </a:ext>
            </a:extLst>
          </p:cNvPr>
          <p:cNvSpPr>
            <a:spLocks noGrp="1"/>
          </p:cNvSpPr>
          <p:nvPr>
            <p:ph type="sldNum" sz="quarter" idx="12"/>
          </p:nvPr>
        </p:nvSpPr>
        <p:spPr/>
        <p:txBody>
          <a:bodyPr/>
          <a:lstStyle/>
          <a:p>
            <a:fld id="{2477B935-5CE2-4A32-B631-2C8711CCABA8}" type="slidenum">
              <a:rPr lang="en-US" smtClean="0"/>
              <a:t>‹#›</a:t>
            </a:fld>
            <a:endParaRPr lang="en-US"/>
          </a:p>
        </p:txBody>
      </p:sp>
    </p:spTree>
    <p:extLst>
      <p:ext uri="{BB962C8B-B14F-4D97-AF65-F5344CB8AC3E}">
        <p14:creationId xmlns:p14="http://schemas.microsoft.com/office/powerpoint/2010/main" val="3092858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4EE520-D0DB-80B7-6CCF-A9E5C571C0DF}"/>
              </a:ext>
            </a:extLst>
          </p:cNvPr>
          <p:cNvSpPr>
            <a:spLocks noGrp="1"/>
          </p:cNvSpPr>
          <p:nvPr>
            <p:ph type="dt" sz="half" idx="10"/>
          </p:nvPr>
        </p:nvSpPr>
        <p:spPr/>
        <p:txBody>
          <a:bodyPr/>
          <a:lstStyle/>
          <a:p>
            <a:fld id="{D447AB16-2E81-4C43-ACAE-9844DCCC1B23}" type="datetimeFigureOut">
              <a:rPr lang="en-US" smtClean="0"/>
              <a:t>6/3/2026</a:t>
            </a:fld>
            <a:endParaRPr lang="en-US"/>
          </a:p>
        </p:txBody>
      </p:sp>
      <p:sp>
        <p:nvSpPr>
          <p:cNvPr id="3" name="Footer Placeholder 2">
            <a:extLst>
              <a:ext uri="{FF2B5EF4-FFF2-40B4-BE49-F238E27FC236}">
                <a16:creationId xmlns:a16="http://schemas.microsoft.com/office/drawing/2014/main" id="{A076C459-2D88-F6E2-EEDA-03434B45CA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F19F2F-2C4D-E9A6-4670-81883B79B37A}"/>
              </a:ext>
            </a:extLst>
          </p:cNvPr>
          <p:cNvSpPr>
            <a:spLocks noGrp="1"/>
          </p:cNvSpPr>
          <p:nvPr>
            <p:ph type="sldNum" sz="quarter" idx="12"/>
          </p:nvPr>
        </p:nvSpPr>
        <p:spPr/>
        <p:txBody>
          <a:bodyPr/>
          <a:lstStyle/>
          <a:p>
            <a:fld id="{2477B935-5CE2-4A32-B631-2C8711CCABA8}" type="slidenum">
              <a:rPr lang="en-US" smtClean="0"/>
              <a:t>‹#›</a:t>
            </a:fld>
            <a:endParaRPr lang="en-US"/>
          </a:p>
        </p:txBody>
      </p:sp>
    </p:spTree>
    <p:extLst>
      <p:ext uri="{BB962C8B-B14F-4D97-AF65-F5344CB8AC3E}">
        <p14:creationId xmlns:p14="http://schemas.microsoft.com/office/powerpoint/2010/main" val="1213565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9DDB-B2E6-C974-3ADB-2186FED874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4A0CAC1-AFD9-DC74-1807-C1DD1A4413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C587FE-993B-F852-3FCC-618903B8F3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B2B332-1578-49C3-227F-7BB96828C005}"/>
              </a:ext>
            </a:extLst>
          </p:cNvPr>
          <p:cNvSpPr>
            <a:spLocks noGrp="1"/>
          </p:cNvSpPr>
          <p:nvPr>
            <p:ph type="dt" sz="half" idx="10"/>
          </p:nvPr>
        </p:nvSpPr>
        <p:spPr/>
        <p:txBody>
          <a:bodyPr/>
          <a:lstStyle/>
          <a:p>
            <a:fld id="{D447AB16-2E81-4C43-ACAE-9844DCCC1B23}" type="datetimeFigureOut">
              <a:rPr lang="en-US" smtClean="0"/>
              <a:t>6/3/2026</a:t>
            </a:fld>
            <a:endParaRPr lang="en-US"/>
          </a:p>
        </p:txBody>
      </p:sp>
      <p:sp>
        <p:nvSpPr>
          <p:cNvPr id="6" name="Footer Placeholder 5">
            <a:extLst>
              <a:ext uri="{FF2B5EF4-FFF2-40B4-BE49-F238E27FC236}">
                <a16:creationId xmlns:a16="http://schemas.microsoft.com/office/drawing/2014/main" id="{A143AEDA-9059-2C48-5E0E-0D29AC6610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7E630B-7D78-056C-6AB6-EE91C424D569}"/>
              </a:ext>
            </a:extLst>
          </p:cNvPr>
          <p:cNvSpPr>
            <a:spLocks noGrp="1"/>
          </p:cNvSpPr>
          <p:nvPr>
            <p:ph type="sldNum" sz="quarter" idx="12"/>
          </p:nvPr>
        </p:nvSpPr>
        <p:spPr/>
        <p:txBody>
          <a:bodyPr/>
          <a:lstStyle/>
          <a:p>
            <a:fld id="{2477B935-5CE2-4A32-B631-2C8711CCABA8}" type="slidenum">
              <a:rPr lang="en-US" smtClean="0"/>
              <a:t>‹#›</a:t>
            </a:fld>
            <a:endParaRPr lang="en-US"/>
          </a:p>
        </p:txBody>
      </p:sp>
    </p:spTree>
    <p:extLst>
      <p:ext uri="{BB962C8B-B14F-4D97-AF65-F5344CB8AC3E}">
        <p14:creationId xmlns:p14="http://schemas.microsoft.com/office/powerpoint/2010/main" val="492846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6C292-CDFE-BAC9-2009-B7C9D1F667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9A2BA7-3BEA-4719-8BF3-42A324186B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C825C1-E2CF-8413-5C4E-817B6196A9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9F7020-6E13-1B7E-5C85-C48A004F8E0A}"/>
              </a:ext>
            </a:extLst>
          </p:cNvPr>
          <p:cNvSpPr>
            <a:spLocks noGrp="1"/>
          </p:cNvSpPr>
          <p:nvPr>
            <p:ph type="dt" sz="half" idx="10"/>
          </p:nvPr>
        </p:nvSpPr>
        <p:spPr/>
        <p:txBody>
          <a:bodyPr/>
          <a:lstStyle/>
          <a:p>
            <a:fld id="{D447AB16-2E81-4C43-ACAE-9844DCCC1B23}" type="datetimeFigureOut">
              <a:rPr lang="en-US" smtClean="0"/>
              <a:t>6/3/2026</a:t>
            </a:fld>
            <a:endParaRPr lang="en-US"/>
          </a:p>
        </p:txBody>
      </p:sp>
      <p:sp>
        <p:nvSpPr>
          <p:cNvPr id="6" name="Footer Placeholder 5">
            <a:extLst>
              <a:ext uri="{FF2B5EF4-FFF2-40B4-BE49-F238E27FC236}">
                <a16:creationId xmlns:a16="http://schemas.microsoft.com/office/drawing/2014/main" id="{18064815-6422-6DFF-D676-0901523646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DBF89B-7824-812F-0BED-51672EC3A9F5}"/>
              </a:ext>
            </a:extLst>
          </p:cNvPr>
          <p:cNvSpPr>
            <a:spLocks noGrp="1"/>
          </p:cNvSpPr>
          <p:nvPr>
            <p:ph type="sldNum" sz="quarter" idx="12"/>
          </p:nvPr>
        </p:nvSpPr>
        <p:spPr/>
        <p:txBody>
          <a:bodyPr/>
          <a:lstStyle/>
          <a:p>
            <a:fld id="{2477B935-5CE2-4A32-B631-2C8711CCABA8}" type="slidenum">
              <a:rPr lang="en-US" smtClean="0"/>
              <a:t>‹#›</a:t>
            </a:fld>
            <a:endParaRPr lang="en-US"/>
          </a:p>
        </p:txBody>
      </p:sp>
    </p:spTree>
    <p:extLst>
      <p:ext uri="{BB962C8B-B14F-4D97-AF65-F5344CB8AC3E}">
        <p14:creationId xmlns:p14="http://schemas.microsoft.com/office/powerpoint/2010/main" val="3585612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C345B-7507-2405-9725-B17BD04B4D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D8DF57-5922-A424-1E64-20BE11AE2C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29B195-C0DC-39E4-3DEC-D850AF3B15FA}"/>
              </a:ext>
            </a:extLst>
          </p:cNvPr>
          <p:cNvSpPr>
            <a:spLocks noGrp="1"/>
          </p:cNvSpPr>
          <p:nvPr>
            <p:ph type="dt" sz="half" idx="10"/>
          </p:nvPr>
        </p:nvSpPr>
        <p:spPr/>
        <p:txBody>
          <a:bodyPr/>
          <a:lstStyle/>
          <a:p>
            <a:fld id="{D447AB16-2E81-4C43-ACAE-9844DCCC1B23}" type="datetimeFigureOut">
              <a:rPr lang="en-US" smtClean="0"/>
              <a:t>6/3/2026</a:t>
            </a:fld>
            <a:endParaRPr lang="en-US"/>
          </a:p>
        </p:txBody>
      </p:sp>
      <p:sp>
        <p:nvSpPr>
          <p:cNvPr id="5" name="Footer Placeholder 4">
            <a:extLst>
              <a:ext uri="{FF2B5EF4-FFF2-40B4-BE49-F238E27FC236}">
                <a16:creationId xmlns:a16="http://schemas.microsoft.com/office/drawing/2014/main" id="{CD915A8E-44B0-05A9-B89B-422C704782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7E7EDA-BD6A-27F2-C37E-42E8E6E22C30}"/>
              </a:ext>
            </a:extLst>
          </p:cNvPr>
          <p:cNvSpPr>
            <a:spLocks noGrp="1"/>
          </p:cNvSpPr>
          <p:nvPr>
            <p:ph type="sldNum" sz="quarter" idx="12"/>
          </p:nvPr>
        </p:nvSpPr>
        <p:spPr/>
        <p:txBody>
          <a:bodyPr/>
          <a:lstStyle/>
          <a:p>
            <a:fld id="{2477B935-5CE2-4A32-B631-2C8711CCABA8}" type="slidenum">
              <a:rPr lang="en-US" smtClean="0"/>
              <a:t>‹#›</a:t>
            </a:fld>
            <a:endParaRPr lang="en-US"/>
          </a:p>
        </p:txBody>
      </p:sp>
    </p:spTree>
    <p:extLst>
      <p:ext uri="{BB962C8B-B14F-4D97-AF65-F5344CB8AC3E}">
        <p14:creationId xmlns:p14="http://schemas.microsoft.com/office/powerpoint/2010/main" val="395288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7FDB6B-1764-F2E2-ACF3-5B06501FE9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3347E6-D745-B64B-2EBE-9392565E63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AD7E7F-91C2-8AF4-334E-53DF6A81DD79}"/>
              </a:ext>
            </a:extLst>
          </p:cNvPr>
          <p:cNvSpPr>
            <a:spLocks noGrp="1"/>
          </p:cNvSpPr>
          <p:nvPr>
            <p:ph type="dt" sz="half" idx="10"/>
          </p:nvPr>
        </p:nvSpPr>
        <p:spPr/>
        <p:txBody>
          <a:bodyPr/>
          <a:lstStyle/>
          <a:p>
            <a:fld id="{D447AB16-2E81-4C43-ACAE-9844DCCC1B23}" type="datetimeFigureOut">
              <a:rPr lang="en-US" smtClean="0"/>
              <a:t>6/3/2026</a:t>
            </a:fld>
            <a:endParaRPr lang="en-US"/>
          </a:p>
        </p:txBody>
      </p:sp>
      <p:sp>
        <p:nvSpPr>
          <p:cNvPr id="5" name="Footer Placeholder 4">
            <a:extLst>
              <a:ext uri="{FF2B5EF4-FFF2-40B4-BE49-F238E27FC236}">
                <a16:creationId xmlns:a16="http://schemas.microsoft.com/office/drawing/2014/main" id="{4553EA65-051D-FEB2-86DF-34B059B42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B0F48E-5E13-41D1-8B73-F92C5D966503}"/>
              </a:ext>
            </a:extLst>
          </p:cNvPr>
          <p:cNvSpPr>
            <a:spLocks noGrp="1"/>
          </p:cNvSpPr>
          <p:nvPr>
            <p:ph type="sldNum" sz="quarter" idx="12"/>
          </p:nvPr>
        </p:nvSpPr>
        <p:spPr/>
        <p:txBody>
          <a:bodyPr/>
          <a:lstStyle/>
          <a:p>
            <a:fld id="{2477B935-5CE2-4A32-B631-2C8711CCABA8}" type="slidenum">
              <a:rPr lang="en-US" smtClean="0"/>
              <a:t>‹#›</a:t>
            </a:fld>
            <a:endParaRPr lang="en-US"/>
          </a:p>
        </p:txBody>
      </p:sp>
    </p:spTree>
    <p:extLst>
      <p:ext uri="{BB962C8B-B14F-4D97-AF65-F5344CB8AC3E}">
        <p14:creationId xmlns:p14="http://schemas.microsoft.com/office/powerpoint/2010/main" val="953433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78A96B-7293-4218-FFF4-0F0ADDBC4D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3866DA-CA21-2DD2-D0D4-C535AF7428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15294D-649C-2AC9-BB52-82BE1520A3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47AB16-2E81-4C43-ACAE-9844DCCC1B23}" type="datetimeFigureOut">
              <a:rPr lang="en-US" smtClean="0"/>
              <a:t>6/3/2026</a:t>
            </a:fld>
            <a:endParaRPr lang="en-US"/>
          </a:p>
        </p:txBody>
      </p:sp>
      <p:sp>
        <p:nvSpPr>
          <p:cNvPr id="5" name="Footer Placeholder 4">
            <a:extLst>
              <a:ext uri="{FF2B5EF4-FFF2-40B4-BE49-F238E27FC236}">
                <a16:creationId xmlns:a16="http://schemas.microsoft.com/office/drawing/2014/main" id="{5ABE00EB-DCAF-4F4E-B255-99C62CDB24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C81D7E6-ACE1-601A-C432-B6C12EAC5D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77B935-5CE2-4A32-B631-2C8711CCABA8}" type="slidenum">
              <a:rPr lang="en-US" smtClean="0"/>
              <a:t>‹#›</a:t>
            </a:fld>
            <a:endParaRPr lang="en-US"/>
          </a:p>
        </p:txBody>
      </p:sp>
    </p:spTree>
    <p:extLst>
      <p:ext uri="{BB962C8B-B14F-4D97-AF65-F5344CB8AC3E}">
        <p14:creationId xmlns:p14="http://schemas.microsoft.com/office/powerpoint/2010/main" val="485674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tailwindcss.com/" TargetMode="External"/><Relationship Id="rId2" Type="http://schemas.openxmlformats.org/officeDocument/2006/relationships/hyperlink" Target="https://hardhat.org/" TargetMode="External"/><Relationship Id="rId1" Type="http://schemas.openxmlformats.org/officeDocument/2006/relationships/slideLayout" Target="../slideLayouts/slideLayout7.xml"/><Relationship Id="rId4" Type="http://schemas.openxmlformats.org/officeDocument/2006/relationships/hyperlink" Target="https://www.ibm.com/blockchain/industries/supply-cha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86376-1E94-DAA9-20CF-E789E8B51BBB}"/>
              </a:ext>
            </a:extLst>
          </p:cNvPr>
          <p:cNvSpPr>
            <a:spLocks noGrp="1"/>
          </p:cNvSpPr>
          <p:nvPr>
            <p:ph type="ctrTitle"/>
          </p:nvPr>
        </p:nvSpPr>
        <p:spPr>
          <a:xfrm flipH="1" flipV="1">
            <a:off x="10667999" y="3509962"/>
            <a:ext cx="45719" cy="45719"/>
          </a:xfrm>
        </p:spPr>
        <p:txBody>
          <a:bodyPr>
            <a:normAutofit fontScale="90000"/>
          </a:bodyPr>
          <a:lstStyle/>
          <a:p>
            <a:r>
              <a:rPr lang="en-US" dirty="0"/>
              <a:t> </a:t>
            </a:r>
          </a:p>
        </p:txBody>
      </p:sp>
      <p:sp>
        <p:nvSpPr>
          <p:cNvPr id="3" name="Subtitle 2">
            <a:extLst>
              <a:ext uri="{FF2B5EF4-FFF2-40B4-BE49-F238E27FC236}">
                <a16:creationId xmlns:a16="http://schemas.microsoft.com/office/drawing/2014/main" id="{62B7CC48-90AA-57EF-8031-1743825CC7CD}"/>
              </a:ext>
            </a:extLst>
          </p:cNvPr>
          <p:cNvSpPr>
            <a:spLocks noGrp="1"/>
          </p:cNvSpPr>
          <p:nvPr>
            <p:ph type="subTitle" idx="1"/>
          </p:nvPr>
        </p:nvSpPr>
        <p:spPr>
          <a:xfrm>
            <a:off x="2359742" y="6824907"/>
            <a:ext cx="9144000" cy="1655762"/>
          </a:xfrm>
        </p:spPr>
        <p:txBody>
          <a:bodyPr/>
          <a:lstStyle/>
          <a:p>
            <a:endParaRPr lang="en-US" dirty="0"/>
          </a:p>
        </p:txBody>
      </p:sp>
      <p:sp>
        <p:nvSpPr>
          <p:cNvPr id="5" name="Google Shape;781;p94">
            <a:extLst>
              <a:ext uri="{FF2B5EF4-FFF2-40B4-BE49-F238E27FC236}">
                <a16:creationId xmlns:a16="http://schemas.microsoft.com/office/drawing/2014/main" id="{DC568AC5-6892-7257-81A6-A612BE9EC1B1}"/>
              </a:ext>
            </a:extLst>
          </p:cNvPr>
          <p:cNvSpPr txBox="1">
            <a:spLocks/>
          </p:cNvSpPr>
          <p:nvPr/>
        </p:nvSpPr>
        <p:spPr>
          <a:xfrm>
            <a:off x="1524000" y="1291643"/>
            <a:ext cx="9583882" cy="1246495"/>
          </a:xfrm>
          <a:prstGeom prst="rect">
            <a:avLst/>
          </a:prstGeom>
        </p:spPr>
        <p:txBody>
          <a:bodyPr spcFirstLastPara="1" vert="horz" wrap="square" lIns="0" tIns="0" rIns="0" bIns="0" rtlCol="0" anchor="t" anchorCtr="0">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en-US" sz="4500" b="1" dirty="0">
                <a:latin typeface="Poppins"/>
                <a:ea typeface="Poppins"/>
                <a:cs typeface="Poppins"/>
                <a:sym typeface="Poppins"/>
              </a:rPr>
              <a:t>SUPPLY CHAIN MANAGEMENT USING BLOCKCHAIN</a:t>
            </a:r>
            <a:endParaRPr lang="en-US" sz="5500" dirty="0"/>
          </a:p>
        </p:txBody>
      </p:sp>
    </p:spTree>
    <p:extLst>
      <p:ext uri="{BB962C8B-B14F-4D97-AF65-F5344CB8AC3E}">
        <p14:creationId xmlns:p14="http://schemas.microsoft.com/office/powerpoint/2010/main" val="1119435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438BF9-AD2D-0CD9-16EB-DFDAA88E5BAB}"/>
              </a:ext>
            </a:extLst>
          </p:cNvPr>
          <p:cNvSpPr txBox="1"/>
          <p:nvPr/>
        </p:nvSpPr>
        <p:spPr>
          <a:xfrm>
            <a:off x="4203290" y="208625"/>
            <a:ext cx="3210233" cy="707886"/>
          </a:xfrm>
          <a:prstGeom prst="rect">
            <a:avLst/>
          </a:prstGeom>
          <a:noFill/>
        </p:spPr>
        <p:txBody>
          <a:bodyPr wrap="square">
            <a:spAutoFit/>
          </a:bodyPr>
          <a:lstStyle/>
          <a:p>
            <a:r>
              <a:rPr lang="en-US" sz="4000" dirty="0"/>
              <a:t>Introduction</a:t>
            </a:r>
          </a:p>
        </p:txBody>
      </p:sp>
      <p:sp>
        <p:nvSpPr>
          <p:cNvPr id="4" name="TextBox 3">
            <a:extLst>
              <a:ext uri="{FF2B5EF4-FFF2-40B4-BE49-F238E27FC236}">
                <a16:creationId xmlns:a16="http://schemas.microsoft.com/office/drawing/2014/main" id="{AC2E148C-E492-C25D-112E-A1CEE2F99565}"/>
              </a:ext>
            </a:extLst>
          </p:cNvPr>
          <p:cNvSpPr txBox="1"/>
          <p:nvPr/>
        </p:nvSpPr>
        <p:spPr>
          <a:xfrm>
            <a:off x="1150375" y="1563329"/>
            <a:ext cx="10441858" cy="3970318"/>
          </a:xfrm>
          <a:prstGeom prst="rect">
            <a:avLst/>
          </a:prstGeom>
          <a:noFill/>
        </p:spPr>
        <p:txBody>
          <a:bodyPr wrap="square" rtlCol="0">
            <a:spAutoFit/>
          </a:bodyPr>
          <a:lstStyle/>
          <a:p>
            <a:r>
              <a:rPr lang="en-US" sz="2400" dirty="0"/>
              <a:t>Supply Chain Management (SCM) plays an important role in the smooth flow of goods, services, information, and finances from raw material suppliers to end consumers</a:t>
            </a:r>
          </a:p>
          <a:p>
            <a:endParaRPr lang="en-US" sz="2400" dirty="0"/>
          </a:p>
          <a:p>
            <a:r>
              <a:rPr lang="en-US" sz="2400" dirty="0"/>
              <a:t>This project is a decentralized, blockchain powered supply chain management system designed to track a product’s lifecycle from raw material to final retailers.</a:t>
            </a:r>
          </a:p>
          <a:p>
            <a:endParaRPr lang="en-US" sz="2400" dirty="0"/>
          </a:p>
          <a:p>
            <a:r>
              <a:rPr lang="en-US" sz="2400" dirty="0"/>
              <a:t> An immutable, real-time tracking platform built on the Ethereum blockchain that provides a "single source of truth" for all participants.</a:t>
            </a:r>
          </a:p>
          <a:p>
            <a:endParaRPr lang="en-US" dirty="0"/>
          </a:p>
          <a:p>
            <a:endParaRPr lang="en-US" dirty="0"/>
          </a:p>
        </p:txBody>
      </p:sp>
    </p:spTree>
    <p:extLst>
      <p:ext uri="{BB962C8B-B14F-4D97-AF65-F5344CB8AC3E}">
        <p14:creationId xmlns:p14="http://schemas.microsoft.com/office/powerpoint/2010/main" val="3270393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1B4CD0-3C59-2B3A-0311-66C0ADCD3DA9}"/>
              </a:ext>
            </a:extLst>
          </p:cNvPr>
          <p:cNvSpPr txBox="1"/>
          <p:nvPr/>
        </p:nvSpPr>
        <p:spPr>
          <a:xfrm>
            <a:off x="3362633" y="344130"/>
            <a:ext cx="4164089" cy="646331"/>
          </a:xfrm>
          <a:prstGeom prst="rect">
            <a:avLst/>
          </a:prstGeom>
          <a:noFill/>
        </p:spPr>
        <p:txBody>
          <a:bodyPr wrap="none" rtlCol="0">
            <a:spAutoFit/>
          </a:bodyPr>
          <a:lstStyle/>
          <a:p>
            <a:r>
              <a:rPr lang="en-US" sz="3600" dirty="0"/>
              <a:t>Motivation of Project</a:t>
            </a:r>
          </a:p>
        </p:txBody>
      </p:sp>
      <p:sp>
        <p:nvSpPr>
          <p:cNvPr id="3" name="TextBox 2">
            <a:extLst>
              <a:ext uri="{FF2B5EF4-FFF2-40B4-BE49-F238E27FC236}">
                <a16:creationId xmlns:a16="http://schemas.microsoft.com/office/drawing/2014/main" id="{F8416468-13FA-3938-3DBB-390EF4277E9A}"/>
              </a:ext>
            </a:extLst>
          </p:cNvPr>
          <p:cNvSpPr txBox="1"/>
          <p:nvPr/>
        </p:nvSpPr>
        <p:spPr>
          <a:xfrm>
            <a:off x="865239" y="1484671"/>
            <a:ext cx="10767024" cy="2805063"/>
          </a:xfrm>
          <a:prstGeom prst="rect">
            <a:avLst/>
          </a:prstGeom>
          <a:noFill/>
        </p:spPr>
        <p:txBody>
          <a:bodyPr wrap="square" rtlCol="0">
            <a:spAutoFit/>
          </a:bodyPr>
          <a:lstStyle/>
          <a:p>
            <a:pPr>
              <a:lnSpc>
                <a:spcPct val="150000"/>
              </a:lnSpc>
            </a:pPr>
            <a:r>
              <a:rPr lang="en-US" sz="2400" dirty="0"/>
              <a:t>The traditional supply chain system lacks transparency, security, and real-time tracking. Issues like fraud, counterfeit products, and data manipulation reduce trust among stakeholders. The emergence of blockchain technology, with its decentralized and immutable nature, motivates the development of a more secure and transparent supply chain system.</a:t>
            </a:r>
          </a:p>
        </p:txBody>
      </p:sp>
    </p:spTree>
    <p:extLst>
      <p:ext uri="{BB962C8B-B14F-4D97-AF65-F5344CB8AC3E}">
        <p14:creationId xmlns:p14="http://schemas.microsoft.com/office/powerpoint/2010/main" val="3944040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D2EC2E-D910-4FBE-24A5-AC7FB6F6980E}"/>
              </a:ext>
            </a:extLst>
          </p:cNvPr>
          <p:cNvSpPr txBox="1"/>
          <p:nvPr/>
        </p:nvSpPr>
        <p:spPr>
          <a:xfrm>
            <a:off x="3736259" y="324464"/>
            <a:ext cx="4411721" cy="707886"/>
          </a:xfrm>
          <a:prstGeom prst="rect">
            <a:avLst/>
          </a:prstGeom>
          <a:noFill/>
        </p:spPr>
        <p:txBody>
          <a:bodyPr wrap="none" rtlCol="0">
            <a:spAutoFit/>
          </a:bodyPr>
          <a:lstStyle/>
          <a:p>
            <a:r>
              <a:rPr lang="en-US" sz="4000" dirty="0"/>
              <a:t>Problem statement </a:t>
            </a:r>
          </a:p>
        </p:txBody>
      </p:sp>
      <p:sp>
        <p:nvSpPr>
          <p:cNvPr id="4" name="TextBox 3">
            <a:extLst>
              <a:ext uri="{FF2B5EF4-FFF2-40B4-BE49-F238E27FC236}">
                <a16:creationId xmlns:a16="http://schemas.microsoft.com/office/drawing/2014/main" id="{A05C8DD8-5CC4-F431-9635-765238A019A4}"/>
              </a:ext>
            </a:extLst>
          </p:cNvPr>
          <p:cNvSpPr txBox="1"/>
          <p:nvPr/>
        </p:nvSpPr>
        <p:spPr>
          <a:xfrm>
            <a:off x="1061883" y="1514168"/>
            <a:ext cx="10245213" cy="3785652"/>
          </a:xfrm>
          <a:prstGeom prst="rect">
            <a:avLst/>
          </a:prstGeom>
          <a:noFill/>
        </p:spPr>
        <p:txBody>
          <a:bodyPr wrap="square" rtlCol="0">
            <a:spAutoFit/>
          </a:bodyPr>
          <a:lstStyle/>
          <a:p>
            <a:r>
              <a:rPr lang="en-US" sz="2400" dirty="0"/>
              <a:t>The traditional approach to SCM has several challenges that need to be addressed. These challenges include issues of transparency, traceability, efficiency, and security . The lack of transparency in traditional SCM makes it difficult for stakeholders to track products as they move through the supply chain. This lack of traceability can lead to delays, errors, and even fraud. In addition, the centralized nature of traditional SCM makes it easy to hacking and tampering, which can compromise the security of the supply chain.</a:t>
            </a:r>
          </a:p>
          <a:p>
            <a:r>
              <a:rPr lang="en-US" sz="2400" dirty="0"/>
              <a:t> This project will explore the potential benefits and challenges of integrating blockchain technology in supply chain management, with a focus on its impact on transparency and efficiency.</a:t>
            </a:r>
          </a:p>
        </p:txBody>
      </p:sp>
    </p:spTree>
    <p:extLst>
      <p:ext uri="{BB962C8B-B14F-4D97-AF65-F5344CB8AC3E}">
        <p14:creationId xmlns:p14="http://schemas.microsoft.com/office/powerpoint/2010/main" val="3230327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BBD84-DDCE-B143-7F67-1B6BD2F4F6BB}"/>
              </a:ext>
            </a:extLst>
          </p:cNvPr>
          <p:cNvSpPr txBox="1"/>
          <p:nvPr/>
        </p:nvSpPr>
        <p:spPr>
          <a:xfrm>
            <a:off x="4365523" y="383459"/>
            <a:ext cx="2357633" cy="769441"/>
          </a:xfrm>
          <a:prstGeom prst="rect">
            <a:avLst/>
          </a:prstGeom>
          <a:noFill/>
        </p:spPr>
        <p:txBody>
          <a:bodyPr wrap="none" rtlCol="0">
            <a:spAutoFit/>
          </a:bodyPr>
          <a:lstStyle/>
          <a:p>
            <a:r>
              <a:rPr lang="en-US" sz="4400" dirty="0"/>
              <a:t>Objective</a:t>
            </a:r>
          </a:p>
        </p:txBody>
      </p:sp>
      <p:sp>
        <p:nvSpPr>
          <p:cNvPr id="3" name="TextBox 2">
            <a:extLst>
              <a:ext uri="{FF2B5EF4-FFF2-40B4-BE49-F238E27FC236}">
                <a16:creationId xmlns:a16="http://schemas.microsoft.com/office/drawing/2014/main" id="{BC1BE032-D889-075D-F6B5-378391ED6D3D}"/>
              </a:ext>
            </a:extLst>
          </p:cNvPr>
          <p:cNvSpPr txBox="1"/>
          <p:nvPr/>
        </p:nvSpPr>
        <p:spPr>
          <a:xfrm>
            <a:off x="776748" y="1681316"/>
            <a:ext cx="10999920" cy="3477875"/>
          </a:xfrm>
          <a:prstGeom prst="rect">
            <a:avLst/>
          </a:prstGeom>
          <a:noFill/>
        </p:spPr>
        <p:txBody>
          <a:bodyPr wrap="square" rtlCol="0">
            <a:spAutoFit/>
          </a:bodyPr>
          <a:lstStyle/>
          <a:p>
            <a:pPr marL="285750" indent="-285750">
              <a:buFont typeface="Arial" panose="020B0604020202020204" pitchFamily="34" charset="0"/>
              <a:buChar char="•"/>
            </a:pPr>
            <a:r>
              <a:rPr lang="en-US" sz="2000" dirty="0"/>
              <a:t> Implement a Unified Ledger: Create a single, decentralized "source of truth" accessible to Suppliers, Manufacturers, Distributors, and Retailers.</a:t>
            </a:r>
          </a:p>
          <a:p>
            <a:endParaRPr lang="en-US" sz="2000" dirty="0"/>
          </a:p>
          <a:p>
            <a:pPr marL="285750" indent="-285750">
              <a:buFont typeface="Arial" panose="020B0604020202020204" pitchFamily="34" charset="0"/>
              <a:buChar char="•"/>
            </a:pPr>
            <a:r>
              <a:rPr lang="en-US" sz="2000" dirty="0"/>
              <a:t> Ensure Data Immutability: Utilize blockchain technology to ensure that all transaction history and status updates are permanent and tamper-proof.</a:t>
            </a:r>
          </a:p>
          <a:p>
            <a:endParaRPr lang="en-US" sz="2000" dirty="0"/>
          </a:p>
          <a:p>
            <a:pPr marL="285750" indent="-285750">
              <a:buFont typeface="Arial" panose="020B0604020202020204" pitchFamily="34" charset="0"/>
              <a:buChar char="•"/>
            </a:pPr>
            <a:r>
              <a:rPr lang="en-US" sz="2000" dirty="0"/>
              <a:t>Automate Lifecycle Tracking: Use Smart Contracts to trigger real-time status updates (from "Order Placed" to "Final  Delivery") without manual intervention.</a:t>
            </a:r>
          </a:p>
          <a:p>
            <a:endParaRPr lang="en-US" sz="2000" dirty="0"/>
          </a:p>
          <a:p>
            <a:pPr marL="285750" indent="-285750">
              <a:buFont typeface="Arial" panose="020B0604020202020204" pitchFamily="34" charset="0"/>
              <a:buChar char="•"/>
            </a:pPr>
            <a:r>
              <a:rPr lang="en-US" sz="2000" dirty="0"/>
              <a:t> Verify Provenance: Provide a complete, verifiable digital footprint for every product to guarantee its authenticity and origin.</a:t>
            </a:r>
          </a:p>
        </p:txBody>
      </p:sp>
    </p:spTree>
    <p:extLst>
      <p:ext uri="{BB962C8B-B14F-4D97-AF65-F5344CB8AC3E}">
        <p14:creationId xmlns:p14="http://schemas.microsoft.com/office/powerpoint/2010/main" val="1215550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F63AF7-513B-DF79-03F9-477A8B95BD24}"/>
              </a:ext>
            </a:extLst>
          </p:cNvPr>
          <p:cNvSpPr txBox="1"/>
          <p:nvPr/>
        </p:nvSpPr>
        <p:spPr>
          <a:xfrm>
            <a:off x="4413488" y="176980"/>
            <a:ext cx="3365024" cy="707886"/>
          </a:xfrm>
          <a:prstGeom prst="rect">
            <a:avLst/>
          </a:prstGeom>
          <a:noFill/>
        </p:spPr>
        <p:txBody>
          <a:bodyPr wrap="none" rtlCol="0">
            <a:spAutoFit/>
          </a:bodyPr>
          <a:lstStyle/>
          <a:p>
            <a:r>
              <a:rPr lang="en-US" sz="4000" dirty="0"/>
              <a:t>Project Feature</a:t>
            </a:r>
          </a:p>
        </p:txBody>
      </p:sp>
      <p:sp>
        <p:nvSpPr>
          <p:cNvPr id="3" name="TextBox 2">
            <a:extLst>
              <a:ext uri="{FF2B5EF4-FFF2-40B4-BE49-F238E27FC236}">
                <a16:creationId xmlns:a16="http://schemas.microsoft.com/office/drawing/2014/main" id="{70974531-9256-5180-CCD7-480A155DC4AB}"/>
              </a:ext>
            </a:extLst>
          </p:cNvPr>
          <p:cNvSpPr txBox="1"/>
          <p:nvPr/>
        </p:nvSpPr>
        <p:spPr>
          <a:xfrm>
            <a:off x="688258" y="1288026"/>
            <a:ext cx="9950246" cy="5016758"/>
          </a:xfrm>
          <a:prstGeom prst="rect">
            <a:avLst/>
          </a:prstGeom>
          <a:noFill/>
        </p:spPr>
        <p:txBody>
          <a:bodyPr wrap="square" rtlCol="0">
            <a:spAutoFit/>
          </a:bodyPr>
          <a:lstStyle/>
          <a:p>
            <a:r>
              <a:rPr lang="en-US" sz="2000" dirty="0"/>
              <a:t>Key Features of our project:</a:t>
            </a:r>
          </a:p>
          <a:p>
            <a:endParaRPr lang="en-US" sz="2000" dirty="0"/>
          </a:p>
          <a:p>
            <a:pPr marL="285750" indent="-285750">
              <a:buFont typeface="Arial" panose="020B0604020202020204" pitchFamily="34" charset="0"/>
              <a:buChar char="•"/>
            </a:pPr>
            <a:r>
              <a:rPr lang="en-US" sz="2000" dirty="0"/>
              <a:t>Role-Based Dashboards: Custom interfaces for each participant (Supplier, Manufacturer, Distributor, Manager, Retailer) to manage their specific tasks.</a:t>
            </a:r>
          </a:p>
          <a:p>
            <a:endParaRPr lang="en-US" sz="2000" dirty="0"/>
          </a:p>
          <a:p>
            <a:pPr marL="285750" indent="-285750">
              <a:buFont typeface="Arial" panose="020B0604020202020204" pitchFamily="34" charset="0"/>
              <a:buChar char="•"/>
            </a:pPr>
            <a:r>
              <a:rPr lang="en-US" sz="2000" dirty="0"/>
              <a:t>Real-Time Status Tracking: Instant updates as a product moves through stages (e.g., Retailer Requested → Manufacturing → Delivered).</a:t>
            </a:r>
          </a:p>
          <a:p>
            <a:endParaRPr lang="en-US" sz="2000" dirty="0"/>
          </a:p>
          <a:p>
            <a:pPr marL="285750" indent="-285750">
              <a:buFont typeface="Arial" panose="020B0604020202020204" pitchFamily="34" charset="0"/>
              <a:buChar char="•"/>
            </a:pPr>
            <a:r>
              <a:rPr lang="en-US" sz="2000" dirty="0"/>
              <a:t> Immutable Order History: A permanent, unchangeable record of every action taken on an order, stored directly on the blockchain.</a:t>
            </a:r>
          </a:p>
          <a:p>
            <a:endParaRPr lang="en-US" sz="2000" dirty="0"/>
          </a:p>
          <a:p>
            <a:pPr marL="285750" indent="-285750">
              <a:buFont typeface="Arial" panose="020B0604020202020204" pitchFamily="34" charset="0"/>
              <a:buChar char="•"/>
            </a:pPr>
            <a:r>
              <a:rPr lang="en-US" sz="2000" dirty="0"/>
              <a:t> Smart Contract Automation: Automated logic that assigns actors to orders and prevents status updates from unauthorized users.</a:t>
            </a:r>
          </a:p>
          <a:p>
            <a:r>
              <a:rPr lang="en-US" sz="2000" dirty="0"/>
              <a:t> </a:t>
            </a:r>
          </a:p>
          <a:p>
            <a:pPr marL="285750" indent="-285750">
              <a:buFont typeface="Arial" panose="020B0604020202020204" pitchFamily="34" charset="0"/>
              <a:buChar char="•"/>
            </a:pPr>
            <a:r>
              <a:rPr lang="en-US" sz="2000" dirty="0"/>
              <a:t>End-to-End Visibility: A dashboard to view the entire lifecycle of a product with precise timestamps and digitally verified.</a:t>
            </a:r>
          </a:p>
        </p:txBody>
      </p:sp>
    </p:spTree>
    <p:extLst>
      <p:ext uri="{BB962C8B-B14F-4D97-AF65-F5344CB8AC3E}">
        <p14:creationId xmlns:p14="http://schemas.microsoft.com/office/powerpoint/2010/main" val="661739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6D3975-E267-0CAB-62CD-28FA22443F8E}"/>
              </a:ext>
            </a:extLst>
          </p:cNvPr>
          <p:cNvSpPr txBox="1"/>
          <p:nvPr/>
        </p:nvSpPr>
        <p:spPr>
          <a:xfrm>
            <a:off x="4016786" y="186812"/>
            <a:ext cx="4429226" cy="707886"/>
          </a:xfrm>
          <a:prstGeom prst="rect">
            <a:avLst/>
          </a:prstGeom>
          <a:noFill/>
        </p:spPr>
        <p:txBody>
          <a:bodyPr wrap="none" rtlCol="0">
            <a:spAutoFit/>
          </a:bodyPr>
          <a:lstStyle/>
          <a:p>
            <a:r>
              <a:rPr lang="en-US" sz="4000" dirty="0"/>
              <a:t>Project Components</a:t>
            </a:r>
          </a:p>
        </p:txBody>
      </p:sp>
      <p:sp>
        <p:nvSpPr>
          <p:cNvPr id="3" name="TextBox 2">
            <a:extLst>
              <a:ext uri="{FF2B5EF4-FFF2-40B4-BE49-F238E27FC236}">
                <a16:creationId xmlns:a16="http://schemas.microsoft.com/office/drawing/2014/main" id="{DEAD9C3F-7BAC-B89B-D5DD-0F1B2B437F2A}"/>
              </a:ext>
            </a:extLst>
          </p:cNvPr>
          <p:cNvSpPr txBox="1"/>
          <p:nvPr/>
        </p:nvSpPr>
        <p:spPr>
          <a:xfrm>
            <a:off x="570271" y="1278197"/>
            <a:ext cx="10314039" cy="5663089"/>
          </a:xfrm>
          <a:prstGeom prst="rect">
            <a:avLst/>
          </a:prstGeom>
          <a:noFill/>
        </p:spPr>
        <p:txBody>
          <a:bodyPr wrap="square" rtlCol="0">
            <a:spAutoFit/>
          </a:bodyPr>
          <a:lstStyle/>
          <a:p>
            <a:r>
              <a:rPr lang="en-US" dirty="0"/>
              <a:t>  1.  Blockchain Layer-&gt;</a:t>
            </a:r>
          </a:p>
          <a:p>
            <a:r>
              <a:rPr lang="en-US" dirty="0"/>
              <a:t>    Smart Contracts (Solidity) : Handles all the logic for creating orders, updating status, and storing history</a:t>
            </a:r>
          </a:p>
          <a:p>
            <a:r>
              <a:rPr lang="en-US" dirty="0"/>
              <a:t>     securely.</a:t>
            </a:r>
          </a:p>
          <a:p>
            <a:r>
              <a:rPr lang="en-US" dirty="0"/>
              <a:t>    Ethereum/Hardhat : The decentralized network and development environment where the code lives.</a:t>
            </a:r>
          </a:p>
          <a:p>
            <a:endParaRPr lang="en-US" dirty="0"/>
          </a:p>
          <a:p>
            <a:r>
              <a:rPr lang="en-US" dirty="0"/>
              <a:t>  2. Frontend Layer-&gt;</a:t>
            </a:r>
          </a:p>
          <a:p>
            <a:r>
              <a:rPr lang="en-US" dirty="0"/>
              <a:t>     React &amp; Vite : A fast, modern web framework used to build the user dashboards.</a:t>
            </a:r>
          </a:p>
          <a:p>
            <a:r>
              <a:rPr lang="en-US" dirty="0"/>
              <a:t>     Tailwind CSS : Used for a clean, professional, and responsive design.</a:t>
            </a:r>
          </a:p>
          <a:p>
            <a:endParaRPr lang="en-US" dirty="0"/>
          </a:p>
          <a:p>
            <a:r>
              <a:rPr lang="en-US" dirty="0"/>
              <a:t>  3.Backend Layer-&gt;</a:t>
            </a:r>
          </a:p>
          <a:p>
            <a:r>
              <a:rPr lang="en-US" dirty="0"/>
              <a:t>      </a:t>
            </a:r>
            <a:r>
              <a:rPr lang="en-IN" dirty="0"/>
              <a:t>Node.js : Handles server-side logic</a:t>
            </a:r>
            <a:endParaRPr lang="en-US" dirty="0"/>
          </a:p>
          <a:p>
            <a:r>
              <a:rPr lang="en-US" dirty="0"/>
              <a:t>   </a:t>
            </a:r>
          </a:p>
          <a:p>
            <a:r>
              <a:rPr lang="en-US" dirty="0"/>
              <a:t>  4. Integration Layer-&gt;</a:t>
            </a:r>
          </a:p>
          <a:p>
            <a:r>
              <a:rPr lang="en-US" dirty="0"/>
              <a:t>       Ethers.js : The library that connects the website to the blockchain, allowing users to send transactions.</a:t>
            </a:r>
          </a:p>
          <a:p>
            <a:r>
              <a:rPr lang="en-US" dirty="0"/>
              <a:t>       App Context : A central system in the code that manages user logins and global data across all pages.</a:t>
            </a:r>
          </a:p>
          <a:p>
            <a:endParaRPr lang="en-US" dirty="0"/>
          </a:p>
          <a:p>
            <a:r>
              <a:rPr lang="en-US" sz="2000" dirty="0"/>
              <a:t>  5. </a:t>
            </a:r>
            <a:r>
              <a:rPr lang="en-US" dirty="0"/>
              <a:t>Database (Off-chain Storage)-&gt;</a:t>
            </a:r>
          </a:p>
          <a:p>
            <a:r>
              <a:rPr lang="en-US" dirty="0"/>
              <a:t>       MySQL : Stores user data, product details </a:t>
            </a:r>
          </a:p>
          <a:p>
            <a:r>
              <a:rPr lang="en-US" dirty="0"/>
              <a:t>     </a:t>
            </a:r>
          </a:p>
          <a:p>
            <a:endParaRPr lang="en-US" dirty="0"/>
          </a:p>
        </p:txBody>
      </p:sp>
    </p:spTree>
    <p:extLst>
      <p:ext uri="{BB962C8B-B14F-4D97-AF65-F5344CB8AC3E}">
        <p14:creationId xmlns:p14="http://schemas.microsoft.com/office/powerpoint/2010/main" val="1627415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3">
            <a:extLst>
              <a:ext uri="{FF2B5EF4-FFF2-40B4-BE49-F238E27FC236}">
                <a16:creationId xmlns:a16="http://schemas.microsoft.com/office/drawing/2014/main" id="{4979C994-F014-76D4-4160-09797349C545}"/>
              </a:ext>
            </a:extLst>
          </p:cNvPr>
          <p:cNvSpPr>
            <a:spLocks noChangeAspect="1" noChangeArrowheads="1"/>
          </p:cNvSpPr>
          <p:nvPr/>
        </p:nvSpPr>
        <p:spPr bwMode="auto">
          <a:xfrm>
            <a:off x="5943600" y="3276599"/>
            <a:ext cx="304800" cy="57124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3" name="Picture 12">
            <a:extLst>
              <a:ext uri="{FF2B5EF4-FFF2-40B4-BE49-F238E27FC236}">
                <a16:creationId xmlns:a16="http://schemas.microsoft.com/office/drawing/2014/main" id="{AE708A09-266A-63F7-3A4F-B4EA4916AEF8}"/>
              </a:ext>
            </a:extLst>
          </p:cNvPr>
          <p:cNvPicPr>
            <a:picLocks noChangeAspect="1"/>
          </p:cNvPicPr>
          <p:nvPr/>
        </p:nvPicPr>
        <p:blipFill>
          <a:blip r:embed="rId2"/>
          <a:srcRect b="15889"/>
          <a:stretch>
            <a:fillRect/>
          </a:stretch>
        </p:blipFill>
        <p:spPr>
          <a:xfrm>
            <a:off x="0" y="246062"/>
            <a:ext cx="12192000" cy="6164569"/>
          </a:xfrm>
          <a:prstGeom prst="rect">
            <a:avLst/>
          </a:prstGeom>
        </p:spPr>
      </p:pic>
    </p:spTree>
    <p:extLst>
      <p:ext uri="{BB962C8B-B14F-4D97-AF65-F5344CB8AC3E}">
        <p14:creationId xmlns:p14="http://schemas.microsoft.com/office/powerpoint/2010/main" val="209863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CDBF5A-0535-3543-1D1E-EA2074F9F74B}"/>
              </a:ext>
            </a:extLst>
          </p:cNvPr>
          <p:cNvPicPr>
            <a:picLocks noChangeAspect="1"/>
          </p:cNvPicPr>
          <p:nvPr/>
        </p:nvPicPr>
        <p:blipFill>
          <a:blip r:embed="rId2"/>
          <a:stretch>
            <a:fillRect/>
          </a:stretch>
        </p:blipFill>
        <p:spPr>
          <a:xfrm>
            <a:off x="2172930" y="0"/>
            <a:ext cx="7865806" cy="6858000"/>
          </a:xfrm>
          <a:prstGeom prst="rect">
            <a:avLst/>
          </a:prstGeom>
        </p:spPr>
      </p:pic>
      <p:sp>
        <p:nvSpPr>
          <p:cNvPr id="4" name="TextBox 3">
            <a:extLst>
              <a:ext uri="{FF2B5EF4-FFF2-40B4-BE49-F238E27FC236}">
                <a16:creationId xmlns:a16="http://schemas.microsoft.com/office/drawing/2014/main" id="{113CA569-0914-E3D6-9C8C-9C8CBF29A23C}"/>
              </a:ext>
            </a:extLst>
          </p:cNvPr>
          <p:cNvSpPr txBox="1"/>
          <p:nvPr/>
        </p:nvSpPr>
        <p:spPr>
          <a:xfrm>
            <a:off x="137652" y="127819"/>
            <a:ext cx="2012410" cy="477054"/>
          </a:xfrm>
          <a:prstGeom prst="rect">
            <a:avLst/>
          </a:prstGeom>
          <a:noFill/>
        </p:spPr>
        <p:txBody>
          <a:bodyPr wrap="none" rtlCol="0">
            <a:spAutoFit/>
          </a:bodyPr>
          <a:lstStyle/>
          <a:p>
            <a:r>
              <a:rPr lang="en-US" sz="2500" b="1" dirty="0"/>
              <a:t>Flow Diagram</a:t>
            </a:r>
          </a:p>
        </p:txBody>
      </p:sp>
    </p:spTree>
    <p:extLst>
      <p:ext uri="{BB962C8B-B14F-4D97-AF65-F5344CB8AC3E}">
        <p14:creationId xmlns:p14="http://schemas.microsoft.com/office/powerpoint/2010/main" val="3548696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338DD0-EA3E-6F3E-AB24-C2E27F56B4FE}"/>
              </a:ext>
            </a:extLst>
          </p:cNvPr>
          <p:cNvPicPr>
            <a:picLocks noChangeAspect="1"/>
          </p:cNvPicPr>
          <p:nvPr/>
        </p:nvPicPr>
        <p:blipFill>
          <a:blip r:embed="rId2"/>
          <a:stretch>
            <a:fillRect/>
          </a:stretch>
        </p:blipFill>
        <p:spPr>
          <a:xfrm>
            <a:off x="0" y="698090"/>
            <a:ext cx="12192000" cy="6159910"/>
          </a:xfrm>
          <a:prstGeom prst="rect">
            <a:avLst/>
          </a:prstGeom>
        </p:spPr>
      </p:pic>
      <p:sp>
        <p:nvSpPr>
          <p:cNvPr id="4" name="TextBox 3">
            <a:extLst>
              <a:ext uri="{FF2B5EF4-FFF2-40B4-BE49-F238E27FC236}">
                <a16:creationId xmlns:a16="http://schemas.microsoft.com/office/drawing/2014/main" id="{6484B8B3-7196-E2BF-3749-48E2894412F9}"/>
              </a:ext>
            </a:extLst>
          </p:cNvPr>
          <p:cNvSpPr txBox="1"/>
          <p:nvPr/>
        </p:nvSpPr>
        <p:spPr>
          <a:xfrm>
            <a:off x="2654709" y="117987"/>
            <a:ext cx="7049729" cy="523220"/>
          </a:xfrm>
          <a:prstGeom prst="rect">
            <a:avLst/>
          </a:prstGeom>
          <a:noFill/>
        </p:spPr>
        <p:txBody>
          <a:bodyPr wrap="square" rtlCol="0">
            <a:spAutoFit/>
          </a:bodyPr>
          <a:lstStyle/>
          <a:p>
            <a:pPr algn="ctr"/>
            <a:r>
              <a:rPr lang="en-US" sz="2800" b="1" dirty="0"/>
              <a:t>LANDING PAGE</a:t>
            </a:r>
          </a:p>
        </p:txBody>
      </p:sp>
    </p:spTree>
    <p:extLst>
      <p:ext uri="{BB962C8B-B14F-4D97-AF65-F5344CB8AC3E}">
        <p14:creationId xmlns:p14="http://schemas.microsoft.com/office/powerpoint/2010/main" val="1781459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EACFE5-1AA7-03C7-7FF1-1861DC195CC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66764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9E2D71-F71B-9EEA-79B3-D59A430D893E}"/>
              </a:ext>
            </a:extLst>
          </p:cNvPr>
          <p:cNvPicPr>
            <a:picLocks noChangeAspect="1"/>
          </p:cNvPicPr>
          <p:nvPr/>
        </p:nvPicPr>
        <p:blipFill>
          <a:blip r:embed="rId2"/>
          <a:stretch>
            <a:fillRect/>
          </a:stretch>
        </p:blipFill>
        <p:spPr>
          <a:xfrm>
            <a:off x="0" y="884902"/>
            <a:ext cx="12192000" cy="5973097"/>
          </a:xfrm>
          <a:prstGeom prst="rect">
            <a:avLst/>
          </a:prstGeom>
        </p:spPr>
      </p:pic>
      <p:sp>
        <p:nvSpPr>
          <p:cNvPr id="4" name="TextBox 3">
            <a:extLst>
              <a:ext uri="{FF2B5EF4-FFF2-40B4-BE49-F238E27FC236}">
                <a16:creationId xmlns:a16="http://schemas.microsoft.com/office/drawing/2014/main" id="{D6BC9EE0-9E48-D9FE-DC31-61756A592202}"/>
              </a:ext>
            </a:extLst>
          </p:cNvPr>
          <p:cNvSpPr txBox="1"/>
          <p:nvPr/>
        </p:nvSpPr>
        <p:spPr>
          <a:xfrm>
            <a:off x="462116" y="186813"/>
            <a:ext cx="7095587" cy="477054"/>
          </a:xfrm>
          <a:prstGeom prst="rect">
            <a:avLst/>
          </a:prstGeom>
          <a:noFill/>
        </p:spPr>
        <p:txBody>
          <a:bodyPr wrap="square" rtlCol="0">
            <a:spAutoFit/>
          </a:bodyPr>
          <a:lstStyle/>
          <a:p>
            <a:r>
              <a:rPr lang="en-US" sz="2500" b="1" dirty="0"/>
              <a:t>1.Retailer Module  </a:t>
            </a:r>
          </a:p>
        </p:txBody>
      </p:sp>
    </p:spTree>
    <p:extLst>
      <p:ext uri="{BB962C8B-B14F-4D97-AF65-F5344CB8AC3E}">
        <p14:creationId xmlns:p14="http://schemas.microsoft.com/office/powerpoint/2010/main" val="2869664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072827-181B-30ED-624A-4E3E8727791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59466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C6EC75-E8A5-F737-3901-AB23E00BC07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906519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9062B9-30FF-7E4A-82E4-8F9F9B92502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56226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0EB87-9521-A306-6835-776E0AC88610}"/>
              </a:ext>
            </a:extLst>
          </p:cNvPr>
          <p:cNvSpPr>
            <a:spLocks noGrp="1"/>
          </p:cNvSpPr>
          <p:nvPr>
            <p:ph type="ctrTitle"/>
          </p:nvPr>
        </p:nvSpPr>
        <p:spPr>
          <a:xfrm>
            <a:off x="1524000" y="717756"/>
            <a:ext cx="9144000" cy="521110"/>
          </a:xfrm>
        </p:spPr>
        <p:txBody>
          <a:bodyPr>
            <a:normAutofit/>
          </a:bodyPr>
          <a:lstStyle/>
          <a:p>
            <a:r>
              <a:rPr lang="en-US" sz="2500" b="1" dirty="0"/>
              <a:t>System Module</a:t>
            </a:r>
          </a:p>
        </p:txBody>
      </p:sp>
      <p:pic>
        <p:nvPicPr>
          <p:cNvPr id="5" name="Picture 4">
            <a:extLst>
              <a:ext uri="{FF2B5EF4-FFF2-40B4-BE49-F238E27FC236}">
                <a16:creationId xmlns:a16="http://schemas.microsoft.com/office/drawing/2014/main" id="{EBAD2042-331C-7ED1-2FA4-6329B4ED6C9C}"/>
              </a:ext>
            </a:extLst>
          </p:cNvPr>
          <p:cNvPicPr>
            <a:picLocks noChangeAspect="1"/>
          </p:cNvPicPr>
          <p:nvPr/>
        </p:nvPicPr>
        <p:blipFill>
          <a:blip r:embed="rId2"/>
          <a:stretch>
            <a:fillRect/>
          </a:stretch>
        </p:blipFill>
        <p:spPr>
          <a:xfrm>
            <a:off x="0" y="806244"/>
            <a:ext cx="12192000" cy="6051755"/>
          </a:xfrm>
          <a:prstGeom prst="rect">
            <a:avLst/>
          </a:prstGeom>
        </p:spPr>
      </p:pic>
      <p:sp>
        <p:nvSpPr>
          <p:cNvPr id="6" name="TextBox 5">
            <a:extLst>
              <a:ext uri="{FF2B5EF4-FFF2-40B4-BE49-F238E27FC236}">
                <a16:creationId xmlns:a16="http://schemas.microsoft.com/office/drawing/2014/main" id="{7262286B-F46D-D55F-8D96-DC0C746DF6F3}"/>
              </a:ext>
            </a:extLst>
          </p:cNvPr>
          <p:cNvSpPr txBox="1"/>
          <p:nvPr/>
        </p:nvSpPr>
        <p:spPr>
          <a:xfrm>
            <a:off x="462116" y="157316"/>
            <a:ext cx="7476523" cy="477054"/>
          </a:xfrm>
          <a:prstGeom prst="rect">
            <a:avLst/>
          </a:prstGeom>
          <a:noFill/>
        </p:spPr>
        <p:txBody>
          <a:bodyPr wrap="square" rtlCol="0">
            <a:spAutoFit/>
          </a:bodyPr>
          <a:lstStyle/>
          <a:p>
            <a:r>
              <a:rPr lang="en-US" sz="2500" b="1" dirty="0"/>
              <a:t>2. Distributor Module </a:t>
            </a:r>
          </a:p>
        </p:txBody>
      </p:sp>
    </p:spTree>
    <p:extLst>
      <p:ext uri="{BB962C8B-B14F-4D97-AF65-F5344CB8AC3E}">
        <p14:creationId xmlns:p14="http://schemas.microsoft.com/office/powerpoint/2010/main" val="607393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597A8-0D48-0766-33F3-EAD4BD6E101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31A3844-9E19-5288-F6B4-B71133560469}"/>
              </a:ext>
            </a:extLst>
          </p:cNvPr>
          <p:cNvPicPr>
            <a:picLocks noGrp="1" noChangeAspect="1"/>
          </p:cNvPicPr>
          <p:nvPr>
            <p:ph idx="1"/>
          </p:nvPr>
        </p:nvPicPr>
        <p:blipFill>
          <a:blip r:embed="rId2"/>
          <a:stretch>
            <a:fillRect/>
          </a:stretch>
        </p:blipFill>
        <p:spPr>
          <a:xfrm>
            <a:off x="0" y="9832"/>
            <a:ext cx="12192000" cy="6858000"/>
          </a:xfrm>
          <a:prstGeom prst="rect">
            <a:avLst/>
          </a:prstGeom>
        </p:spPr>
      </p:pic>
    </p:spTree>
    <p:extLst>
      <p:ext uri="{BB962C8B-B14F-4D97-AF65-F5344CB8AC3E}">
        <p14:creationId xmlns:p14="http://schemas.microsoft.com/office/powerpoint/2010/main" val="2202670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912DE-8722-14B4-FFC5-C2BC17597FBC}"/>
              </a:ext>
            </a:extLst>
          </p:cNvPr>
          <p:cNvSpPr>
            <a:spLocks noGrp="1"/>
          </p:cNvSpPr>
          <p:nvPr>
            <p:ph type="title"/>
          </p:nvPr>
        </p:nvSpPr>
        <p:spPr>
          <a:xfrm>
            <a:off x="749709" y="-303008"/>
            <a:ext cx="10515600" cy="1325563"/>
          </a:xfrm>
        </p:spPr>
        <p:txBody>
          <a:bodyPr>
            <a:normAutofit/>
          </a:bodyPr>
          <a:lstStyle/>
          <a:p>
            <a:r>
              <a:rPr lang="en-US" sz="2500" b="1" dirty="0"/>
              <a:t>3.Manager Module  </a:t>
            </a:r>
          </a:p>
        </p:txBody>
      </p:sp>
      <p:pic>
        <p:nvPicPr>
          <p:cNvPr id="5" name="Content Placeholder 4">
            <a:extLst>
              <a:ext uri="{FF2B5EF4-FFF2-40B4-BE49-F238E27FC236}">
                <a16:creationId xmlns:a16="http://schemas.microsoft.com/office/drawing/2014/main" id="{7DE9B044-5F3F-17F9-7B2D-019A43349DAF}"/>
              </a:ext>
            </a:extLst>
          </p:cNvPr>
          <p:cNvPicPr>
            <a:picLocks noGrp="1" noChangeAspect="1"/>
          </p:cNvPicPr>
          <p:nvPr>
            <p:ph idx="1"/>
          </p:nvPr>
        </p:nvPicPr>
        <p:blipFill>
          <a:blip r:embed="rId2"/>
          <a:stretch>
            <a:fillRect/>
          </a:stretch>
        </p:blipFill>
        <p:spPr>
          <a:xfrm>
            <a:off x="0" y="825910"/>
            <a:ext cx="12192000" cy="6032090"/>
          </a:xfrm>
          <a:prstGeom prst="rect">
            <a:avLst/>
          </a:prstGeom>
        </p:spPr>
      </p:pic>
    </p:spTree>
    <p:extLst>
      <p:ext uri="{BB962C8B-B14F-4D97-AF65-F5344CB8AC3E}">
        <p14:creationId xmlns:p14="http://schemas.microsoft.com/office/powerpoint/2010/main" val="2780018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8791F2-0600-3AED-2AC3-EAD5426E936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943626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84241D-6AC7-A257-ECDB-CABEC7EB6BA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14926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0D57C1-0694-171C-B8DA-3C2CC6FB407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62769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B7EF73-47FB-AF45-76D6-66E48C3A58D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51784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4EADA7-868F-9974-4CC6-B919DB204B7C}"/>
              </a:ext>
            </a:extLst>
          </p:cNvPr>
          <p:cNvPicPr>
            <a:picLocks noChangeAspect="1"/>
          </p:cNvPicPr>
          <p:nvPr/>
        </p:nvPicPr>
        <p:blipFill>
          <a:blip r:embed="rId2"/>
          <a:stretch>
            <a:fillRect/>
          </a:stretch>
        </p:blipFill>
        <p:spPr>
          <a:xfrm>
            <a:off x="0" y="838200"/>
            <a:ext cx="12192000" cy="6019800"/>
          </a:xfrm>
          <a:prstGeom prst="rect">
            <a:avLst/>
          </a:prstGeom>
        </p:spPr>
      </p:pic>
      <p:sp>
        <p:nvSpPr>
          <p:cNvPr id="4" name="TextBox 3">
            <a:extLst>
              <a:ext uri="{FF2B5EF4-FFF2-40B4-BE49-F238E27FC236}">
                <a16:creationId xmlns:a16="http://schemas.microsoft.com/office/drawing/2014/main" id="{6A62BF62-1B53-E646-A73F-57E9F639BA8D}"/>
              </a:ext>
            </a:extLst>
          </p:cNvPr>
          <p:cNvSpPr txBox="1"/>
          <p:nvPr/>
        </p:nvSpPr>
        <p:spPr>
          <a:xfrm>
            <a:off x="501445" y="78658"/>
            <a:ext cx="5819596" cy="477054"/>
          </a:xfrm>
          <a:prstGeom prst="rect">
            <a:avLst/>
          </a:prstGeom>
          <a:noFill/>
        </p:spPr>
        <p:txBody>
          <a:bodyPr wrap="square" rtlCol="0">
            <a:spAutoFit/>
          </a:bodyPr>
          <a:lstStyle/>
          <a:p>
            <a:r>
              <a:rPr lang="en-US" sz="2500" b="1" dirty="0"/>
              <a:t>4.Supplier Module </a:t>
            </a:r>
          </a:p>
        </p:txBody>
      </p:sp>
    </p:spTree>
    <p:extLst>
      <p:ext uri="{BB962C8B-B14F-4D97-AF65-F5344CB8AC3E}">
        <p14:creationId xmlns:p14="http://schemas.microsoft.com/office/powerpoint/2010/main" val="3366966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E3D3B3-4209-2DE2-2325-6ED8432F93B5}"/>
              </a:ext>
            </a:extLst>
          </p:cNvPr>
          <p:cNvPicPr>
            <a:picLocks noChangeAspect="1"/>
          </p:cNvPicPr>
          <p:nvPr/>
        </p:nvPicPr>
        <p:blipFill>
          <a:blip r:embed="rId2"/>
          <a:stretch>
            <a:fillRect/>
          </a:stretch>
        </p:blipFill>
        <p:spPr>
          <a:xfrm>
            <a:off x="0" y="453390"/>
            <a:ext cx="12192000" cy="5951220"/>
          </a:xfrm>
          <a:prstGeom prst="rect">
            <a:avLst/>
          </a:prstGeom>
        </p:spPr>
      </p:pic>
    </p:spTree>
    <p:extLst>
      <p:ext uri="{BB962C8B-B14F-4D97-AF65-F5344CB8AC3E}">
        <p14:creationId xmlns:p14="http://schemas.microsoft.com/office/powerpoint/2010/main" val="436988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51B865-F809-82D0-4D40-A23E8F5DCB96}"/>
              </a:ext>
            </a:extLst>
          </p:cNvPr>
          <p:cNvPicPr>
            <a:picLocks noChangeAspect="1"/>
          </p:cNvPicPr>
          <p:nvPr/>
        </p:nvPicPr>
        <p:blipFill>
          <a:blip r:embed="rId2"/>
          <a:stretch>
            <a:fillRect/>
          </a:stretch>
        </p:blipFill>
        <p:spPr>
          <a:xfrm>
            <a:off x="0" y="480060"/>
            <a:ext cx="12192000" cy="5897880"/>
          </a:xfrm>
          <a:prstGeom prst="rect">
            <a:avLst/>
          </a:prstGeom>
        </p:spPr>
      </p:pic>
    </p:spTree>
    <p:extLst>
      <p:ext uri="{BB962C8B-B14F-4D97-AF65-F5344CB8AC3E}">
        <p14:creationId xmlns:p14="http://schemas.microsoft.com/office/powerpoint/2010/main" val="17007884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195E74-1EF4-E78F-B37A-6610A27F7F1B}"/>
              </a:ext>
            </a:extLst>
          </p:cNvPr>
          <p:cNvPicPr>
            <a:picLocks noChangeAspect="1"/>
          </p:cNvPicPr>
          <p:nvPr/>
        </p:nvPicPr>
        <p:blipFill>
          <a:blip r:embed="rId2"/>
          <a:stretch>
            <a:fillRect/>
          </a:stretch>
        </p:blipFill>
        <p:spPr>
          <a:xfrm>
            <a:off x="0" y="0"/>
            <a:ext cx="12192000" cy="6966156"/>
          </a:xfrm>
          <a:prstGeom prst="rect">
            <a:avLst/>
          </a:prstGeom>
        </p:spPr>
      </p:pic>
    </p:spTree>
    <p:extLst>
      <p:ext uri="{BB962C8B-B14F-4D97-AF65-F5344CB8AC3E}">
        <p14:creationId xmlns:p14="http://schemas.microsoft.com/office/powerpoint/2010/main" val="1285512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DA39D0-9ED2-479B-7BD6-95B485437A20}"/>
              </a:ext>
            </a:extLst>
          </p:cNvPr>
          <p:cNvPicPr>
            <a:picLocks noChangeAspect="1"/>
          </p:cNvPicPr>
          <p:nvPr/>
        </p:nvPicPr>
        <p:blipFill>
          <a:blip r:embed="rId2"/>
          <a:stretch>
            <a:fillRect/>
          </a:stretch>
        </p:blipFill>
        <p:spPr>
          <a:xfrm>
            <a:off x="0" y="560070"/>
            <a:ext cx="12192000" cy="5737860"/>
          </a:xfrm>
          <a:prstGeom prst="rect">
            <a:avLst/>
          </a:prstGeom>
        </p:spPr>
      </p:pic>
    </p:spTree>
    <p:extLst>
      <p:ext uri="{BB962C8B-B14F-4D97-AF65-F5344CB8AC3E}">
        <p14:creationId xmlns:p14="http://schemas.microsoft.com/office/powerpoint/2010/main" val="2132884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9C4C9F-97BD-1E0D-21EB-9E5AE794D4A8}"/>
              </a:ext>
            </a:extLst>
          </p:cNvPr>
          <p:cNvPicPr>
            <a:picLocks noChangeAspect="1"/>
          </p:cNvPicPr>
          <p:nvPr/>
        </p:nvPicPr>
        <p:blipFill>
          <a:blip r:embed="rId2"/>
          <a:stretch>
            <a:fillRect/>
          </a:stretch>
        </p:blipFill>
        <p:spPr>
          <a:xfrm>
            <a:off x="3570380" y="0"/>
            <a:ext cx="5051240" cy="6858000"/>
          </a:xfrm>
          <a:prstGeom prst="rect">
            <a:avLst/>
          </a:prstGeom>
        </p:spPr>
      </p:pic>
    </p:spTree>
    <p:extLst>
      <p:ext uri="{BB962C8B-B14F-4D97-AF65-F5344CB8AC3E}">
        <p14:creationId xmlns:p14="http://schemas.microsoft.com/office/powerpoint/2010/main" val="39489385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3ACC8C-53E8-5DC9-B226-D8E003FD0A7B}"/>
              </a:ext>
            </a:extLst>
          </p:cNvPr>
          <p:cNvPicPr>
            <a:picLocks noChangeAspect="1"/>
          </p:cNvPicPr>
          <p:nvPr/>
        </p:nvPicPr>
        <p:blipFill>
          <a:blip r:embed="rId2"/>
          <a:stretch>
            <a:fillRect/>
          </a:stretch>
        </p:blipFill>
        <p:spPr>
          <a:xfrm>
            <a:off x="269488" y="0"/>
            <a:ext cx="11653024" cy="6858000"/>
          </a:xfrm>
          <a:prstGeom prst="rect">
            <a:avLst/>
          </a:prstGeom>
        </p:spPr>
      </p:pic>
    </p:spTree>
    <p:extLst>
      <p:ext uri="{BB962C8B-B14F-4D97-AF65-F5344CB8AC3E}">
        <p14:creationId xmlns:p14="http://schemas.microsoft.com/office/powerpoint/2010/main" val="1428351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6CB656-919D-768E-8C75-4A5A5159CCD7}"/>
              </a:ext>
            </a:extLst>
          </p:cNvPr>
          <p:cNvPicPr>
            <a:picLocks noChangeAspect="1"/>
          </p:cNvPicPr>
          <p:nvPr/>
        </p:nvPicPr>
        <p:blipFill>
          <a:blip r:embed="rId2"/>
          <a:stretch>
            <a:fillRect/>
          </a:stretch>
        </p:blipFill>
        <p:spPr>
          <a:xfrm>
            <a:off x="0" y="4306529"/>
            <a:ext cx="12192000" cy="2459985"/>
          </a:xfrm>
          <a:prstGeom prst="rect">
            <a:avLst/>
          </a:prstGeom>
        </p:spPr>
      </p:pic>
      <p:pic>
        <p:nvPicPr>
          <p:cNvPr id="5" name="Picture 4">
            <a:extLst>
              <a:ext uri="{FF2B5EF4-FFF2-40B4-BE49-F238E27FC236}">
                <a16:creationId xmlns:a16="http://schemas.microsoft.com/office/drawing/2014/main" id="{8D26FAF5-291A-1454-CE72-1F837EDF3116}"/>
              </a:ext>
            </a:extLst>
          </p:cNvPr>
          <p:cNvPicPr>
            <a:picLocks noChangeAspect="1"/>
          </p:cNvPicPr>
          <p:nvPr/>
        </p:nvPicPr>
        <p:blipFill>
          <a:blip r:embed="rId3"/>
          <a:stretch>
            <a:fillRect/>
          </a:stretch>
        </p:blipFill>
        <p:spPr>
          <a:xfrm>
            <a:off x="0" y="2261419"/>
            <a:ext cx="12192000" cy="2587804"/>
          </a:xfrm>
          <a:prstGeom prst="rect">
            <a:avLst/>
          </a:prstGeom>
        </p:spPr>
      </p:pic>
      <p:pic>
        <p:nvPicPr>
          <p:cNvPr id="7" name="Picture 6">
            <a:extLst>
              <a:ext uri="{FF2B5EF4-FFF2-40B4-BE49-F238E27FC236}">
                <a16:creationId xmlns:a16="http://schemas.microsoft.com/office/drawing/2014/main" id="{ACAF9D4D-B102-0678-C65E-7D18477BB3B6}"/>
              </a:ext>
            </a:extLst>
          </p:cNvPr>
          <p:cNvPicPr>
            <a:picLocks noChangeAspect="1"/>
          </p:cNvPicPr>
          <p:nvPr/>
        </p:nvPicPr>
        <p:blipFill>
          <a:blip r:embed="rId4"/>
          <a:stretch>
            <a:fillRect/>
          </a:stretch>
        </p:blipFill>
        <p:spPr>
          <a:xfrm>
            <a:off x="0" y="0"/>
            <a:ext cx="12192000" cy="2459985"/>
          </a:xfrm>
          <a:prstGeom prst="rect">
            <a:avLst/>
          </a:prstGeom>
        </p:spPr>
      </p:pic>
    </p:spTree>
    <p:extLst>
      <p:ext uri="{BB962C8B-B14F-4D97-AF65-F5344CB8AC3E}">
        <p14:creationId xmlns:p14="http://schemas.microsoft.com/office/powerpoint/2010/main" val="3092934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2E5A96-ACC0-138B-8D5C-571E2E8B5281}"/>
              </a:ext>
            </a:extLst>
          </p:cNvPr>
          <p:cNvPicPr>
            <a:picLocks noChangeAspect="1"/>
          </p:cNvPicPr>
          <p:nvPr/>
        </p:nvPicPr>
        <p:blipFill>
          <a:blip r:embed="rId2"/>
          <a:stretch>
            <a:fillRect/>
          </a:stretch>
        </p:blipFill>
        <p:spPr>
          <a:xfrm>
            <a:off x="0" y="855284"/>
            <a:ext cx="12192000" cy="6002716"/>
          </a:xfrm>
          <a:prstGeom prst="rect">
            <a:avLst/>
          </a:prstGeom>
        </p:spPr>
      </p:pic>
      <p:sp>
        <p:nvSpPr>
          <p:cNvPr id="4" name="TextBox 3">
            <a:extLst>
              <a:ext uri="{FF2B5EF4-FFF2-40B4-BE49-F238E27FC236}">
                <a16:creationId xmlns:a16="http://schemas.microsoft.com/office/drawing/2014/main" id="{D76CD3BE-15C6-2DEF-F2B8-DBF8869D1E72}"/>
              </a:ext>
            </a:extLst>
          </p:cNvPr>
          <p:cNvSpPr txBox="1"/>
          <p:nvPr/>
        </p:nvSpPr>
        <p:spPr>
          <a:xfrm>
            <a:off x="304800" y="238527"/>
            <a:ext cx="2762865" cy="477054"/>
          </a:xfrm>
          <a:prstGeom prst="rect">
            <a:avLst/>
          </a:prstGeom>
          <a:noFill/>
        </p:spPr>
        <p:txBody>
          <a:bodyPr wrap="square" rtlCol="0">
            <a:spAutoFit/>
          </a:bodyPr>
          <a:lstStyle/>
          <a:p>
            <a:r>
              <a:rPr lang="en-US" sz="2500" b="1" dirty="0"/>
              <a:t>Admin Panel</a:t>
            </a:r>
          </a:p>
        </p:txBody>
      </p:sp>
    </p:spTree>
    <p:extLst>
      <p:ext uri="{BB962C8B-B14F-4D97-AF65-F5344CB8AC3E}">
        <p14:creationId xmlns:p14="http://schemas.microsoft.com/office/powerpoint/2010/main" val="1204120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DB96C5-86CE-3FC5-BF4C-7CECDB939D80}"/>
              </a:ext>
            </a:extLst>
          </p:cNvPr>
          <p:cNvSpPr txBox="1"/>
          <p:nvPr/>
        </p:nvSpPr>
        <p:spPr>
          <a:xfrm>
            <a:off x="4139381" y="403123"/>
            <a:ext cx="1945597" cy="584775"/>
          </a:xfrm>
          <a:prstGeom prst="rect">
            <a:avLst/>
          </a:prstGeom>
          <a:noFill/>
        </p:spPr>
        <p:txBody>
          <a:bodyPr wrap="none" rtlCol="0">
            <a:spAutoFit/>
          </a:bodyPr>
          <a:lstStyle/>
          <a:p>
            <a:r>
              <a:rPr lang="en-US" sz="3200" dirty="0"/>
              <a:t>Reference </a:t>
            </a:r>
          </a:p>
        </p:txBody>
      </p:sp>
      <p:sp>
        <p:nvSpPr>
          <p:cNvPr id="4" name="TextBox 3">
            <a:extLst>
              <a:ext uri="{FF2B5EF4-FFF2-40B4-BE49-F238E27FC236}">
                <a16:creationId xmlns:a16="http://schemas.microsoft.com/office/drawing/2014/main" id="{13D2EACA-7DE1-5418-CB14-9CD9775A3F25}"/>
              </a:ext>
            </a:extLst>
          </p:cNvPr>
          <p:cNvSpPr txBox="1"/>
          <p:nvPr/>
        </p:nvSpPr>
        <p:spPr>
          <a:xfrm>
            <a:off x="1130710" y="1229032"/>
            <a:ext cx="10520516" cy="4555093"/>
          </a:xfrm>
          <a:prstGeom prst="rect">
            <a:avLst/>
          </a:prstGeom>
          <a:noFill/>
        </p:spPr>
        <p:txBody>
          <a:bodyPr wrap="square" rtlCol="0">
            <a:spAutoFit/>
          </a:bodyPr>
          <a:lstStyle/>
          <a:p>
            <a:pPr marL="342900" indent="-342900">
              <a:buFont typeface="+mj-lt"/>
              <a:buAutoNum type="arabicPeriod"/>
            </a:pPr>
            <a:r>
              <a:rPr lang="en-US" sz="1600" i="1" dirty="0"/>
              <a:t>Solidity Documentation: https://docs.soliditylang.org/</a:t>
            </a:r>
          </a:p>
          <a:p>
            <a:pPr marL="342900" indent="-342900">
              <a:buFont typeface="+mj-lt"/>
              <a:buAutoNum type="arabicPeriod"/>
            </a:pPr>
            <a:r>
              <a:rPr lang="en-US" sz="1600" i="1" dirty="0"/>
              <a:t>React Documentation: https://react.dev/</a:t>
            </a:r>
          </a:p>
          <a:p>
            <a:pPr marL="342900" indent="-342900">
              <a:buFont typeface="+mj-lt"/>
              <a:buAutoNum type="arabicPeriod"/>
            </a:pPr>
            <a:r>
              <a:rPr lang="en-US" sz="1600" i="1" dirty="0"/>
              <a:t> Hardhat Documentation:  </a:t>
            </a:r>
            <a:r>
              <a:rPr lang="en-US" sz="1600" i="1" dirty="0">
                <a:hlinkClick r:id="rId2"/>
              </a:rPr>
              <a:t>https://hardhat.org/</a:t>
            </a:r>
            <a:endParaRPr lang="en-US" sz="1600" i="1" dirty="0"/>
          </a:p>
          <a:p>
            <a:pPr marL="342900" indent="-342900">
              <a:buFont typeface="+mj-lt"/>
              <a:buAutoNum type="arabicPeriod"/>
            </a:pPr>
            <a:r>
              <a:rPr lang="en-US" sz="1600" i="1" dirty="0"/>
              <a:t> MetaMask Developer Docs:  https://docs.metamask.io/</a:t>
            </a:r>
          </a:p>
          <a:p>
            <a:pPr marL="342900" indent="-342900">
              <a:buFont typeface="+mj-lt"/>
              <a:buAutoNum type="arabicPeriod"/>
            </a:pPr>
            <a:r>
              <a:rPr lang="en-US" sz="1600" i="1" dirty="0"/>
              <a:t> Tailwind CSS Documentation:  </a:t>
            </a:r>
            <a:r>
              <a:rPr lang="en-US" sz="1600" i="1" dirty="0">
                <a:hlinkClick r:id="rId3"/>
              </a:rPr>
              <a:t>https://tailwindcss.com/</a:t>
            </a:r>
            <a:endParaRPr lang="en-US" sz="1600" i="1" dirty="0"/>
          </a:p>
          <a:p>
            <a:pPr marL="342900" indent="-342900">
              <a:buFont typeface="+mj-lt"/>
              <a:buAutoNum type="arabicPeriod"/>
            </a:pPr>
            <a:r>
              <a:rPr lang="en-US" sz="1600" i="1" dirty="0"/>
              <a:t>IBM Blockchain. "Blockchain for Supply Chain: Transparency and Traceability." Available at: </a:t>
            </a:r>
            <a:r>
              <a:rPr lang="en-US" sz="1600" i="1" dirty="0">
                <a:hlinkClick r:id="rId4"/>
              </a:rPr>
              <a:t>https://www.ibm.com/blockchain/industries/supply-chain</a:t>
            </a:r>
            <a:endParaRPr lang="en-US" sz="1600" i="1" dirty="0"/>
          </a:p>
          <a:p>
            <a:pPr marL="342900" indent="-342900">
              <a:buFont typeface="+mj-lt"/>
              <a:buAutoNum type="arabicPeriod"/>
            </a:pPr>
            <a:r>
              <a:rPr lang="en-IN" sz="1600" i="1" dirty="0"/>
              <a:t>ResearchGate. (2024). Blockchain Technology for Global Supply Chain Management: A Survey of Applications, Challenges, Opportunities &amp; Implications. IEEE Access, 12, </a:t>
            </a:r>
            <a:endParaRPr lang="en-US" sz="1600" i="1" dirty="0"/>
          </a:p>
          <a:p>
            <a:pPr marL="342900" indent="-342900">
              <a:buFont typeface="+mj-lt"/>
              <a:buAutoNum type="arabicPeriod"/>
            </a:pPr>
            <a:r>
              <a:rPr lang="en-IN" sz="1600" i="1" dirty="0"/>
              <a:t>MDPI. (2024). Improving Supply Chain Management Processes Using Smart Contracts in the Ethereum Network Written in Solidity. Applied Sciences, 14(11), 4738. https://doi.org/10.3076/3417/14/11/4738  </a:t>
            </a:r>
            <a:endParaRPr lang="en-US" sz="1600" i="1" dirty="0"/>
          </a:p>
          <a:p>
            <a:pPr marL="342900" indent="-342900">
              <a:buFont typeface="+mj-lt"/>
              <a:buAutoNum type="arabicPeriod"/>
            </a:pPr>
            <a:endParaRPr lang="en-US" sz="1600" i="1" dirty="0"/>
          </a:p>
          <a:p>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a:p>
            <a:pPr marL="342900" indent="-342900">
              <a:buFont typeface="+mj-lt"/>
              <a:buAutoNum type="arabicPeriod"/>
            </a:pPr>
            <a:endParaRPr lang="en-US" dirty="0"/>
          </a:p>
        </p:txBody>
      </p:sp>
    </p:spTree>
    <p:extLst>
      <p:ext uri="{BB962C8B-B14F-4D97-AF65-F5344CB8AC3E}">
        <p14:creationId xmlns:p14="http://schemas.microsoft.com/office/powerpoint/2010/main" val="1114478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TotalTime>
  <Words>830</Words>
  <Application>Microsoft Office PowerPoint</Application>
  <PresentationFormat>Widescreen</PresentationFormat>
  <Paragraphs>74</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Poppins</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Module</vt:lpstr>
      <vt:lpstr>PowerPoint Presentation</vt:lpstr>
      <vt:lpstr>3.Manager Module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Ashutosh Kumar</dc:creator>
  <cp:lastModifiedBy>Ashutosh Kumar</cp:lastModifiedBy>
  <cp:revision>10</cp:revision>
  <dcterms:created xsi:type="dcterms:W3CDTF">2026-03-25T06:33:32Z</dcterms:created>
  <dcterms:modified xsi:type="dcterms:W3CDTF">2026-06-03T03:27:45Z</dcterms:modified>
</cp:coreProperties>
</file>